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Good morning everyone. We are Group 10 from BlueFish Media Design, and today we present our website design proposal for InnoV8.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InnoV8 is a consultancy that provides motivational strategies and personal development services to corporations and charities.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Over the next slides we will walk through the client expectations, target audience, competitor analysis and our proposed design.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Here is our agenda for today. We will start by introducing the InnoV8 client and their business.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Then we will present the three client expectations and the target audience for the website.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After that, we will share our analysis of three competitor websites, and finally present our complete design proposal including color, layout, typography and the sample page layout.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First, let us introduce our client. InnoV8 is a consultancy that provides motivational strategies and personal development services.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They work with three types of clients: corporations, companies and charity organisations.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Their services focus on employee motivation, leadership growth and team effectiveness, which is the core of the website we designed.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Now let us talk about the three expectations our client has for the website.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First, the website must build credibility and trust, so corporate and charity clients see InnoV8 as a professional consultancy.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Second, it must clearly showcase the services. And third, it must generate leads through clear calls-to-action that lead visitors to book a consultation.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Now let us look at who the website is designed for. The primary audience is decision-makers in corporations, small businesses and charity organisations.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They are typically aged 30 to 55, both male and female, in management or HR roles, with middle-to-high income and authority to spend on consulting.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They care about leadership, team building and employee engagement, and they need to solve problems like low motivation and weak teamwork.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We analysed three competitors in the consulting and training space: FranklinCovey, Dale Carnegie and Gallup.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For each site we noted two strengths and two weaknesses using the Web Design Best Practices Checklist.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Common weaknesses include dense pages and complex navigation. Our design avoids these problems with a clean layout and clear calls-to-action.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Our color scheme is derived directly from the InnoV8 brand and logo.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Deep navy is the primary color, used for the header and main banner. Accent blue is reserved for call-to-action buttons, and the bright teal highlights numbers and key accents.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 light background and dark gray body text keep the pages readable, which matches the professional tone expected by corporate and charity clients.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For the page layout we chose the jello layout, as required by the assignment.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In a jello layout, the content area has a fixed maximum width and is centered, while the margins on both sides expand and contract with the screen size.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We implemented this with a maximum width of 900 pixels and margin auto centering, which keeps text readable and consistent across screen sizes.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For typography we chose a two-font system.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Montserrat is used for all headings and the logo wordmark. It is a geometric sans-serif that gives the brand a strong, professional look.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Inter is used for paragraphs, navigation and labels. It is crisp and highly readable on screens, which keeps the content comfortable to read.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This is the sample page layout we built for InnoV8. The screenshot shows the finished homepage rendered in Google Chrome.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On the left you can see the full page: the navy header and banner we designed, the four service cards, the trust section and the footer.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 website file index.html, together with its style sheets, is delivered with this deck and tested at a desktop width of 1280 pixels.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Thank you for listening. To sum up, we designed a professional, trustworthy website for InnoV8 that clearly showcases its consulting services and turns visitors into leads.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The design uses the InnoV8 brand colors, a jello layout and a clean two-font system.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We are happy to take any questions about the design decisions or the sample page itself.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1.xml" Type="http://schemas.openxmlformats.org/officeDocument/2006/relationships/notesSlid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1F3D">
                <a:alpha val="100000"/>
              </a:srgbClr>
            </a:gs>
            <a:gs pos="100000">
              <a:srgbClr val="09336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1" r="21" t="0" b="0"/>
          <a:stretch>
            <a:fillRect/>
          </a:stretch>
        </p:blipFill>
        <p:spPr>
          <a:xfrm rot="0" flipH="false" flipV="false">
            <a:off x="6350000" y="889000"/>
            <a:ext cx="5588000" cy="4622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105" b="105"/>
          <a:stretch>
            <a:fillRect/>
          </a:stretch>
        </p:blipFill>
        <p:spPr>
          <a:xfrm rot="0" flipH="false" flipV="false">
            <a:off x="1016000" y="698500"/>
            <a:ext cx="6731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508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6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InnoV8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022600"/>
            <a:ext cx="5461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Website Design Proposal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8100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Prepared by Group 10 | BlueFish Media Design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Web Design Assignment 1 (TSNI 2022)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635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65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216CE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1625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905000" y="1574800"/>
            <a:ext cx="584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Client Overview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905000" y="19812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Understanding the InnoV8 business and its consulting services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2508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2641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905000" y="2590800"/>
            <a:ext cx="584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Client Expectations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905000" y="29972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Three things the InnoV8 website must achieve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3524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3657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905000" y="3606800"/>
            <a:ext cx="584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905000" y="40132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Who the website serves and how the design appeals to them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4297" flipH="false" flipV="false">
            <a:off x="1016004" y="4540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 txBox="true"/>
          <p:nvPr/>
        </p:nvSpPr>
        <p:spPr>
          <a:xfrm rot="0" flipH="false" flipV="false">
            <a:off x="1016000" y="4673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905000" y="4622800"/>
            <a:ext cx="584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Competition Analysis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905000" y="50292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Three competitor websites with strengths and weaknesses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297" flipH="false" flipV="false">
            <a:off x="1016004" y="5556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1016000" y="56896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1905000" y="5638800"/>
            <a:ext cx="584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Design Proposal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905000" y="6045200"/>
            <a:ext cx="660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Color scheme, page layout, typography and the sample page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635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About InnoV8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660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The client and its business domain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032000"/>
            <a:ext cx="5334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InnoV8 specialises in motivational strategies and personal development consultancy. The firm helps corporations, companies and charity organisations improve employee motivation, leadership capability and overall team effectiveness.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7267" flipH="false" flipV="false">
            <a:off x="5143500" y="3740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7366000" y="20574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128000" y="2082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Corporate and charity clients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128000" y="24384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Serving businesses and nonprofit organisations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366000" y="31750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128000" y="320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Motivation and growth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128000" y="35560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Personal development and coaching services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366000" y="4292600"/>
            <a:ext cx="76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128000" y="431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Team effectiveness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8128000" y="4673600"/>
            <a:ext cx="330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Building stronger teams and workplaces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11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Client Expectations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Three things the InnoV8 website must achieve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114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413000" y="1879600"/>
            <a:ext cx="457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Credibility and trust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413000" y="2311400"/>
            <a:ext cx="812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A polished, professional design that positions InnoV8 as a credible consultancy partner for corporate and charity clients.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30162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3251200"/>
            <a:ext cx="114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413000" y="32258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Clear service showcase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413000" y="3657600"/>
            <a:ext cx="812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Services presented clearly so corporate and charity visitors immediately understand what InnoV8 offers.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43624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1016000" y="4597400"/>
            <a:ext cx="114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413000" y="4572000"/>
            <a:ext cx="508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Lead generation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413000" y="5003800"/>
            <a:ext cx="812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Strong calls-to-action and visible contact options that convert visitors into booked consultations.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11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Target Audience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812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Decision-makers in corporations, businesses and charity organisations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921000" y="1930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30-55 years old, typical of managers, HR and L&amp;D leaders.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8194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Gender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921000" y="28448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Both male and female decision-makers in management positions.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3733800"/>
            <a:ext cx="1651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Interests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921000" y="3759200"/>
            <a:ext cx="330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Leadership development, team building, employee engagement, organisational culture and personal growth.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388145" flipH="false" flipV="false">
            <a:off x="4762500" y="3740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7112000" y="19050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Socioeconomic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7112000" y="23622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Middle-to-high income professionals in management who hold training and consulting budgets and can authorise external services.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112000" y="37592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Needs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112000" y="4216400"/>
            <a:ext cx="419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Solving problems such as low employee motivation, weak teamwork, and limited leadership capability.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Competition Analysis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Three competitor websites, assessed with the Web Design Best Practices Checklist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778000"/>
          <a:ext cx="10160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/>
                <a:gridCol w="3810000"/>
                <a:gridCol w="3810000"/>
              </a:tblGrid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Competitor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336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Two Strengths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336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Two Weaknesses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93362">
                        <a:alpha val="100000"/>
                      </a:srgbClr>
                    </a:solidFill>
                  </a:tcPr>
                </a:tc>
              </a:tr>
              <a:tr h="1358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9336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FranklinCovey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Clear, consistent navigation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Consistent branding and hierarchy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Content-dense homepage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Heavy media slows loading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589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9336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Dale Carnegie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Clear value proposition and CTA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Localised regional content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Complex dropdown navigation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Text-heavy pages reduce scanning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462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93362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Gallup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Data-driven content builds trust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Clear typography and white space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4166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Vast site with dense pages</a:t>
                      </a:r>
                      <a:endParaRPr lang="en-US" sz="1100"/>
                    </a:p>
                    <a:p>
                      <a:pPr algn="l" marL="0" indent="0">
                        <a:lnSpc>
                          <a:spcPct val="104166"/>
                        </a:lnSpc>
                      </a:pPr>
                      <a:r>
                        <a:rPr lang="en-US" b="false" i="false" strike="noStrike" u="none" sz="1000">
                          <a:solidFill>
                            <a:srgbClr val="33415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Services hard to find</a:t>
                      </a:r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Color Scheme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Derived from the InnoV8 brand and logo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159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0933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708400"/>
            <a:ext cx="190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Primary Navy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038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#093362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2159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216CE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3175000" y="3708400"/>
            <a:ext cx="190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Accent Blue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3175000" y="4038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#216CE7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2159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20E0E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334000" y="3708400"/>
            <a:ext cx="190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Highlight Teal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334000" y="4038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#20E0E0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493000" y="2159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F4F7FB">
              <a:alpha val="100000"/>
            </a:srgbClr>
          </a:solidFill>
          <a:ln w="25400" cmpd="sng" cap="flat">
            <a:solidFill>
              <a:srgbClr val="E0E7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493000" y="3708400"/>
            <a:ext cx="190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Light Background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493000" y="4038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#F4F7FB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52000" y="2159000"/>
            <a:ext cx="1905000" cy="1397000"/>
          </a:xfrm>
          <a:prstGeom prst="roundRect">
            <a:avLst>
              <a:gd name="adj" fmla="val 9090"/>
            </a:avLst>
          </a:prstGeom>
          <a:solidFill>
            <a:srgbClr val="33415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652000" y="3708400"/>
            <a:ext cx="190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Body Text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652000" y="4038600"/>
            <a:ext cx="190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#33415C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49022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Deep navy conveys authority and professionalism, accent blue powers the calls-to-action, and teal adds a fresh, energetic highlight that reflects growth.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Page Layout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Jello layout — fixed-width content, centered with fluid side margins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905000"/>
            <a:ext cx="5334000" cy="558800"/>
          </a:xfrm>
          <a:prstGeom prst="roundRect">
            <a:avLst>
              <a:gd name="adj" fmla="val 0"/>
            </a:avLst>
          </a:prstGeom>
          <a:solidFill>
            <a:srgbClr val="09336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057400"/>
            <a:ext cx="533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Header (full width)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905000" y="27178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solidFill>
              <a:srgbClr val="216CE7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905000" y="3276600"/>
            <a:ext cx="355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93362"/>
                </a:solidFill>
                <a:latin typeface="Inter"/>
                <a:ea typeface="Inter"/>
                <a:cs typeface="Inter"/>
                <a:sym typeface="Inter"/>
              </a:rPr>
              <a:t>Content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905000" y="38100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Fixed max width, centered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717800"/>
            <a:ext cx="635000" cy="1905000"/>
          </a:xfrm>
          <a:prstGeom prst="roundRect">
            <a:avLst>
              <a:gd name="adj" fmla="val 0"/>
            </a:avLst>
          </a:prstGeom>
          <a:solidFill>
            <a:srgbClr val="E0E7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5000" y="2717800"/>
            <a:ext cx="635000" cy="1905000"/>
          </a:xfrm>
          <a:prstGeom prst="roundRect">
            <a:avLst>
              <a:gd name="adj" fmla="val 0"/>
            </a:avLst>
          </a:prstGeom>
          <a:solidFill>
            <a:srgbClr val="E0E7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016000" y="47498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margin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715000" y="4749800"/>
            <a:ext cx="635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margin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387722" flipH="false" flipV="false">
            <a:off x="5334000" y="3676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7620000" y="19304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Why Jello?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620000" y="2463800"/>
            <a:ext cx="3810000" cy="228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Content keeps a comfortable reading width on large screens.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Side margins grow with the viewport, so the page never looks stretched.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Matches the desktop-first design of our sample page.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Typography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192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Montserrat for headings, Inter for body text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905000"/>
            <a:ext cx="114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2032000" y="190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Montserrat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032000" y="2311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Used for headings, titles and the logo wordmark. A geometric sans-serif with a strong, professional presence.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3244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3429000"/>
            <a:ext cx="1143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032000" y="3429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Inter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032000" y="3835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Used for paragraphs, navigation links and small labels. Crisp, open and highly readable on screens.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387722" flipH="false" flipV="false">
            <a:off x="5080000" y="3676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 txBox="true"/>
          <p:nvPr/>
        </p:nvSpPr>
        <p:spPr>
          <a:xfrm rot="0" flipH="false" flipV="false">
            <a:off x="7366000" y="1905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InnoV8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366000" y="2667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216CE7"/>
                </a:solidFill>
                <a:latin typeface="Montserrat"/>
                <a:ea typeface="Montserrat"/>
                <a:cs typeface="Montserrat"/>
                <a:sym typeface="Montserrat"/>
              </a:rPr>
              <a:t>Website Design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366000" y="3175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Activating team potential and driving organisational growth — a sample of the Inter body text on screen.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5588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Sample Page Layout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36" r="36" t="0" b="0"/>
          <a:stretch>
            <a:fillRect/>
          </a:stretch>
        </p:blipFill>
        <p:spPr>
          <a:xfrm rot="0" flipH="false" flipV="false">
            <a:off x="1016000" y="1397000"/>
            <a:ext cx="2794000" cy="546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cxnSp>
        <p:nvCxnSpPr>
          <p:cNvPr name="Connector 4" id="4"/>
          <p:cNvCxnSpPr/>
          <p:nvPr/>
        </p:nvCxnSpPr>
        <p:spPr>
          <a:xfrm rot="5391615" flipH="false" flipV="false">
            <a:off x="1714500" y="3994158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0E7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4826000" y="1524000"/>
            <a:ext cx="609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93362"/>
                </a:solidFill>
                <a:latin typeface="Montserrat"/>
                <a:ea typeface="Montserrat"/>
                <a:cs typeface="Montserrat"/>
                <a:sym typeface="Montserrat"/>
              </a:rPr>
              <a:t>The finished page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4826000" y="2108200"/>
            <a:ext cx="609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3415C"/>
                </a:solidFill>
                <a:latin typeface="Inter"/>
                <a:ea typeface="Inter"/>
                <a:cs typeface="Inter"/>
                <a:sym typeface="Inter"/>
              </a:rPr>
              <a:t>Our merged sample page combines the navy header and banner, four service cards, a trust section and a footer — all wrapped in a 900-pixel jello layout.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4826000" y="38100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Website file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4826000" y="41910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093362"/>
                </a:solidFill>
                <a:latin typeface="Roboto Mono"/>
                <a:ea typeface="Roboto Mono"/>
                <a:cs typeface="Roboto Mono"/>
                <a:sym typeface="Roboto Mono"/>
              </a:rPr>
              <a:t>index.html + above.css + work.css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4826000" y="45720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887A0"/>
                </a:solidFill>
                <a:latin typeface="Inter"/>
                <a:ea typeface="Inter"/>
                <a:cs typeface="Inter"/>
                <a:sym typeface="Inter"/>
              </a:rPr>
              <a:t>Delivered as a local file with this deck, tested in Google Chrome at 1280px width.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71F3D">
                <a:alpha val="100000"/>
              </a:srgbClr>
            </a:gs>
            <a:gs pos="100000">
              <a:srgbClr val="09336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417" b="417"/>
          <a:stretch>
            <a:fillRect/>
          </a:stretch>
        </p:blipFill>
        <p:spPr>
          <a:xfrm rot="0" flipH="false" flipV="false">
            <a:off x="1016000" y="711200"/>
            <a:ext cx="609600" cy="6858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1778000" y="7366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InnoV8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2667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759200"/>
            <a:ext cx="1016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20E0E0"/>
                </a:solidFill>
                <a:latin typeface="Montserrat"/>
                <a:ea typeface="Montserrat"/>
                <a:cs typeface="Montserrat"/>
                <a:sym typeface="Montserrat"/>
              </a:rPr>
              <a:t>Let's activate team potential together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57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Questions and feedback are welcome.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5842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Group 10 | BlueFish Media Design | Web Design Assignment 1 (TSNI 2022)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